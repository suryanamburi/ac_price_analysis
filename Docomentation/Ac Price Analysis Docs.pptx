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2" r:id="rId26"/>
    <p:sldId id="283" r:id="rId27"/>
    <p:sldId id="284" r:id="rId28"/>
    <p:sldId id="279" r:id="rId29"/>
    <p:sldId id="286" r:id="rId30"/>
    <p:sldId id="280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4" autoAdjust="0"/>
    <p:restoredTop sz="94660"/>
  </p:normalViewPr>
  <p:slideViewPr>
    <p:cSldViewPr>
      <p:cViewPr varScale="1">
        <p:scale>
          <a:sx n="75" d="100"/>
          <a:sy n="75" d="100"/>
        </p:scale>
        <p:origin x="562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168" y="6286067"/>
            <a:ext cx="2945471" cy="44483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36" y="0"/>
            <a:ext cx="9246031" cy="20901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1211" y="2627503"/>
            <a:ext cx="704151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6304" y="4710176"/>
            <a:ext cx="633031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7216" y="6286498"/>
            <a:ext cx="2945892" cy="44500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" y="0"/>
            <a:ext cx="9246107" cy="20909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30957" y="2611069"/>
            <a:ext cx="7009765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6304" y="4703445"/>
            <a:ext cx="6268720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5179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89654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530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2955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5320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168" y="6286067"/>
            <a:ext cx="2945471" cy="44483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111780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2102865"/>
            <a:ext cx="9704705" cy="25863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7216" y="6286498"/>
            <a:ext cx="2945892" cy="4450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1180" y="345186"/>
            <a:ext cx="11089639" cy="1296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9226" y="1596771"/>
            <a:ext cx="9793605" cy="18281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09975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uryaprakashnamburi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73860" marR="5080" indent="-1661795">
              <a:lnSpc>
                <a:spcPct val="100000"/>
              </a:lnSpc>
              <a:spcBef>
                <a:spcPts val="100"/>
              </a:spcBef>
              <a:tabLst>
                <a:tab pos="2722245" algn="l"/>
              </a:tabLst>
            </a:pP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AC </a:t>
            </a:r>
            <a:r>
              <a:rPr sz="4800" spc="-10" dirty="0">
                <a:solidFill>
                  <a:srgbClr val="000000"/>
                </a:solidFill>
                <a:latin typeface="Arial"/>
                <a:cs typeface="Arial"/>
              </a:rPr>
              <a:t>Price</a:t>
            </a: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	Analysis</a:t>
            </a:r>
            <a:r>
              <a:rPr sz="4800" spc="-19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10" dirty="0">
                <a:solidFill>
                  <a:srgbClr val="000000"/>
                </a:solidFill>
                <a:latin typeface="Arial"/>
                <a:cs typeface="Arial"/>
              </a:rPr>
              <a:t>using </a:t>
            </a:r>
            <a:r>
              <a:rPr sz="4800" dirty="0">
                <a:solidFill>
                  <a:srgbClr val="000000"/>
                </a:solidFill>
                <a:latin typeface="Arial"/>
                <a:cs typeface="Arial"/>
              </a:rPr>
              <a:t>Flipkart</a:t>
            </a:r>
            <a:r>
              <a:rPr sz="4800" spc="-16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4800" spc="-20" dirty="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endParaRPr sz="4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9330" marR="5080" indent="-224663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DF1F25"/>
                </a:solidFill>
                <a:latin typeface="Arial MT"/>
                <a:cs typeface="Arial MT"/>
              </a:rPr>
              <a:t>Data-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Driven</a:t>
            </a:r>
            <a:r>
              <a:rPr spc="-5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Insights</a:t>
            </a:r>
            <a:r>
              <a:rPr spc="-7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on</a:t>
            </a:r>
            <a:r>
              <a:rPr spc="-7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Air</a:t>
            </a:r>
            <a:r>
              <a:rPr spc="-70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Conditioner</a:t>
            </a:r>
            <a:r>
              <a:rPr spc="-45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DF1F25"/>
                </a:solidFill>
                <a:latin typeface="Arial MT"/>
                <a:cs typeface="Arial MT"/>
              </a:rPr>
              <a:t>Pricing </a:t>
            </a:r>
            <a:r>
              <a:rPr dirty="0">
                <a:solidFill>
                  <a:srgbClr val="DF1F25"/>
                </a:solidFill>
                <a:latin typeface="Arial MT"/>
                <a:cs typeface="Arial MT"/>
              </a:rPr>
              <a:t>Using</a:t>
            </a:r>
            <a:r>
              <a:rPr spc="-70" dirty="0">
                <a:solidFill>
                  <a:srgbClr val="DF1F25"/>
                </a:solidFill>
                <a:latin typeface="Arial MT"/>
                <a:cs typeface="Arial MT"/>
              </a:rPr>
              <a:t> </a:t>
            </a:r>
            <a:r>
              <a:rPr spc="-10" dirty="0">
                <a:solidFill>
                  <a:srgbClr val="DF1F25"/>
                </a:solidFill>
                <a:latin typeface="Arial MT"/>
                <a:cs typeface="Arial MT"/>
              </a:rPr>
              <a:t>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9780" y="1506093"/>
            <a:ext cx="10624820" cy="27962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5"/>
              </a:spcBef>
              <a:buSzPct val="90000"/>
              <a:buChar char="•"/>
              <a:tabLst>
                <a:tab pos="299085" algn="l"/>
              </a:tabLst>
            </a:pPr>
            <a:r>
              <a:rPr sz="2000" dirty="0" err="1">
                <a:latin typeface="Arial MT"/>
                <a:cs typeface="Arial MT"/>
              </a:rPr>
              <a:t>B.Tech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graduates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Electronics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Communication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Engineering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(ECE)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aspiring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analysts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passionate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about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transforming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raw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data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into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meaningful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insights.</a:t>
            </a:r>
            <a:endParaRPr sz="2000" dirty="0">
              <a:latin typeface="Arial MT"/>
              <a:cs typeface="Arial MT"/>
            </a:endParaRPr>
          </a:p>
          <a:p>
            <a:pPr marL="299085" marR="280670" indent="-287020">
              <a:lnSpc>
                <a:spcPct val="200000"/>
              </a:lnSpc>
              <a:buSzPct val="9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This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project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“AC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Price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Analysis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Web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Scraping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Pandas”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—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was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developed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to </a:t>
            </a:r>
            <a:r>
              <a:rPr sz="2000" dirty="0">
                <a:latin typeface="Arial MT"/>
                <a:cs typeface="Arial MT"/>
              </a:rPr>
              <a:t>study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market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TRENDS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air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conditioners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Flipkart.</a:t>
            </a:r>
            <a:endParaRPr sz="20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20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SzPct val="90000"/>
              <a:buChar char="•"/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Our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goal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to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analyze</a:t>
            </a:r>
            <a:r>
              <a:rPr sz="2000" b="1" spc="-2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pricing</a:t>
            </a:r>
            <a:r>
              <a:rPr sz="2000" b="1" spc="-3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patterns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7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brand</a:t>
            </a:r>
            <a:r>
              <a:rPr sz="2000" b="1" spc="-3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 MT"/>
                <a:cs typeface="Arial MT"/>
              </a:rPr>
              <a:t>comparisons</a:t>
            </a:r>
            <a:r>
              <a:rPr sz="2000" dirty="0">
                <a:latin typeface="Arial MT"/>
                <a:cs typeface="Arial MT"/>
              </a:rPr>
              <a:t>,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seasonal</a:t>
            </a:r>
            <a:r>
              <a:rPr sz="2000" spc="-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trends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using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-</a:t>
            </a:r>
            <a:r>
              <a:rPr lang="en-IN"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driven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techniques</a:t>
            </a:r>
            <a:r>
              <a:rPr sz="2000" spc="-6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Python.</a:t>
            </a:r>
            <a:endParaRPr sz="20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2555" y="713358"/>
            <a:ext cx="16687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>
                <a:latin typeface="Tahoma"/>
                <a:cs typeface="Tahoma"/>
              </a:rPr>
              <a:t>About</a:t>
            </a:r>
            <a:r>
              <a:rPr sz="3200" spc="-135" dirty="0">
                <a:latin typeface="Tahoma"/>
                <a:cs typeface="Tahoma"/>
              </a:rPr>
              <a:t> </a:t>
            </a:r>
            <a:r>
              <a:rPr sz="3200" spc="-195" dirty="0">
                <a:latin typeface="Tahoma"/>
                <a:cs typeface="Tahoma"/>
              </a:rPr>
              <a:t>us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2555" y="4800600"/>
            <a:ext cx="4257675" cy="887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400" dirty="0">
                <a:latin typeface="Arial MT"/>
                <a:cs typeface="Arial MT"/>
                <a:hlinkClick r:id="rId2"/>
              </a:rPr>
              <a:t>Connect</a:t>
            </a:r>
            <a:r>
              <a:rPr sz="1400" spc="-40" dirty="0">
                <a:latin typeface="Arial MT"/>
                <a:cs typeface="Arial MT"/>
                <a:hlinkClick r:id="rId2"/>
              </a:rPr>
              <a:t> </a:t>
            </a:r>
            <a:r>
              <a:rPr sz="1400" dirty="0">
                <a:latin typeface="Arial MT"/>
                <a:cs typeface="Arial MT"/>
                <a:hlinkClick r:id="rId2"/>
              </a:rPr>
              <a:t>with</a:t>
            </a:r>
            <a:r>
              <a:rPr sz="1400" spc="-25" dirty="0">
                <a:latin typeface="Arial MT"/>
                <a:cs typeface="Arial MT"/>
                <a:hlinkClick r:id="rId2"/>
              </a:rPr>
              <a:t> </a:t>
            </a:r>
            <a:r>
              <a:rPr sz="1400" dirty="0">
                <a:latin typeface="Arial MT"/>
                <a:cs typeface="Arial MT"/>
                <a:hlinkClick r:id="rId2"/>
              </a:rPr>
              <a:t>me</a:t>
            </a:r>
            <a:r>
              <a:rPr sz="1400" spc="-20" dirty="0">
                <a:latin typeface="Arial MT"/>
                <a:cs typeface="Arial MT"/>
                <a:hlinkClick r:id="rId2"/>
              </a:rPr>
              <a:t> </a:t>
            </a:r>
            <a:r>
              <a:rPr sz="1400" dirty="0">
                <a:latin typeface="Arial MT"/>
                <a:cs typeface="Arial MT"/>
                <a:hlinkClick r:id="rId2"/>
              </a:rPr>
              <a:t>on</a:t>
            </a:r>
            <a:r>
              <a:rPr sz="1400" spc="-30" dirty="0">
                <a:latin typeface="Arial MT"/>
                <a:cs typeface="Arial MT"/>
                <a:hlinkClick r:id="rId2"/>
              </a:rPr>
              <a:t> </a:t>
            </a:r>
            <a:r>
              <a:rPr sz="1400" dirty="0">
                <a:latin typeface="Arial MT"/>
                <a:cs typeface="Arial MT"/>
                <a:hlinkClick r:id="rId2"/>
              </a:rPr>
              <a:t>Linkedin</a:t>
            </a:r>
            <a:r>
              <a:rPr sz="1400" spc="-50" dirty="0">
                <a:latin typeface="Arial MT"/>
                <a:cs typeface="Arial MT"/>
                <a:hlinkClick r:id="rId2"/>
              </a:rPr>
              <a:t> </a:t>
            </a:r>
            <a:r>
              <a:rPr sz="1400" dirty="0">
                <a:latin typeface="Arial MT"/>
                <a:cs typeface="Arial MT"/>
                <a:hlinkClick r:id="rId2"/>
              </a:rPr>
              <a:t>Surya</a:t>
            </a:r>
            <a:r>
              <a:rPr sz="1400" spc="-5" dirty="0">
                <a:latin typeface="Arial MT"/>
                <a:cs typeface="Arial MT"/>
                <a:hlinkClick r:id="rId2"/>
              </a:rPr>
              <a:t> </a:t>
            </a:r>
            <a:r>
              <a:rPr sz="1400" spc="-10" dirty="0">
                <a:latin typeface="Arial MT"/>
                <a:cs typeface="Arial MT"/>
                <a:hlinkClick r:id="rId2"/>
              </a:rPr>
              <a:t>Namburi</a:t>
            </a:r>
            <a:endParaRPr sz="1400" dirty="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lr>
                <a:srgbClr val="000000"/>
              </a:buClr>
              <a:buChar char="•"/>
              <a:tabLst>
                <a:tab pos="299085" algn="l"/>
              </a:tabLst>
            </a:pPr>
            <a:r>
              <a:rPr sz="14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Arial MT"/>
                <a:cs typeface="Arial MT"/>
                <a:hlinkClick r:id="rId2"/>
              </a:rPr>
              <a:t>https://www.linkedin.com/in/suryaprakashnamburi/</a:t>
            </a:r>
            <a:endParaRPr sz="1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6544" rIns="0" bIns="0" rtlCol="0">
            <a:spAutoFit/>
          </a:bodyPr>
          <a:lstStyle/>
          <a:p>
            <a:pPr marL="17653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/>
                <a:cs typeface="Arial"/>
              </a:rPr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7659" y="1954784"/>
            <a:ext cx="1068705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air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conditioner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(AC)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rapidly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growing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diverse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brands,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strategies.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Understanding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patterns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identify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preferences.</a:t>
            </a:r>
            <a:endParaRPr sz="1800">
              <a:latin typeface="Arial MT"/>
              <a:cs typeface="Arial MT"/>
            </a:endParaRPr>
          </a:p>
          <a:p>
            <a:pPr marL="299085" marR="130175" indent="-287020">
              <a:lnSpc>
                <a:spcPct val="2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project,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“AC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using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Web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Scraping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Pandas,”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focuses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analyzing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scraped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Flipkart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uncover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about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comparisons,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seasonal</a:t>
            </a:r>
            <a:r>
              <a:rPr sz="1800" spc="-10" dirty="0">
                <a:latin typeface="Arial MT"/>
                <a:cs typeface="Arial MT"/>
              </a:rPr>
              <a:t> variations.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analysis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performed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Python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tools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BeautifulSoup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Pandas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extraction,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5"/>
              </a:spcBef>
            </a:pP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cleaning,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visualization.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3908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Business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035505"/>
            <a:ext cx="10267950" cy="276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Consumers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face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difficulty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choosing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right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due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varying </a:t>
            </a:r>
            <a:r>
              <a:rPr sz="1800" b="1" dirty="0">
                <a:latin typeface="Arial"/>
                <a:cs typeface="Arial"/>
              </a:rPr>
              <a:t>prices,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brands,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features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Retailers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marketers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need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insights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trends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remain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competitive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market.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market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highly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dynamic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seasonal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fluctuations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affecting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consumer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800">
              <a:latin typeface="Arial MT"/>
              <a:cs typeface="Arial MT"/>
            </a:endParaRPr>
          </a:p>
          <a:p>
            <a:pPr marL="299085">
              <a:lnSpc>
                <a:spcPct val="100000"/>
              </a:lnSpc>
            </a:pPr>
            <a:r>
              <a:rPr sz="1800" spc="-10" dirty="0">
                <a:latin typeface="Arial MT"/>
                <a:cs typeface="Arial MT"/>
              </a:rPr>
              <a:t>demand.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6493" rIns="0" bIns="0" rtlCol="0">
            <a:spAutoFit/>
          </a:bodyPr>
          <a:lstStyle/>
          <a:p>
            <a:pPr marL="393700">
              <a:lnSpc>
                <a:spcPct val="100000"/>
              </a:lnSpc>
              <a:spcBef>
                <a:spcPts val="105"/>
              </a:spcBef>
            </a:pPr>
            <a:r>
              <a:rPr spc="-10" dirty="0">
                <a:latin typeface="Arial"/>
                <a:cs typeface="Arial"/>
              </a:rPr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45286" y="2027935"/>
            <a:ext cx="991743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scrape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real-</a:t>
            </a:r>
            <a:r>
              <a:rPr sz="1800" b="1" dirty="0">
                <a:latin typeface="Arial"/>
                <a:cs typeface="Arial"/>
              </a:rPr>
              <a:t>time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Flipkart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Python-</a:t>
            </a:r>
            <a:r>
              <a:rPr sz="1800" dirty="0">
                <a:latin typeface="Arial MT"/>
                <a:cs typeface="Arial MT"/>
              </a:rPr>
              <a:t>based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web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scraping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tools.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analyze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pricing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trends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different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brands,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capacities,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features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70"/>
              </a:spcBef>
              <a:buFont typeface="Arial MT"/>
              <a:buChar char="•"/>
            </a:pPr>
            <a:endParaRPr sz="1800">
              <a:latin typeface="Arial"/>
              <a:cs typeface="Arial"/>
            </a:endParaRPr>
          </a:p>
          <a:p>
            <a:pPr marL="32956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rating,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inverter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type).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visualize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insights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graphs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charts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Pandas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Matplotlib/Seaborn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derive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data-</a:t>
            </a:r>
            <a:r>
              <a:rPr sz="1800" b="1" dirty="0">
                <a:latin typeface="Arial"/>
                <a:cs typeface="Arial"/>
              </a:rPr>
              <a:t>driven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insights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help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understand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market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behavior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consumer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choices.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3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Tools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Used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239" y="1819929"/>
            <a:ext cx="5887720" cy="43059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35"/>
              </a:spcBef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1.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Programming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Analysis: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Python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Main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programming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language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scraping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3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Pandas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manipulation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analysis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NumPy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Numerical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computations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25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2.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Web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Scraping: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BeautifulSoup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Parsing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45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Requests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Sending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requests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pages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3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re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(Regex)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Pattern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matching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features</a:t>
            </a:r>
            <a:endParaRPr sz="14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240"/>
              </a:spcBef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buSzPct val="128571"/>
              <a:buFont typeface="Arial MT"/>
              <a:buChar char="•"/>
              <a:tabLst>
                <a:tab pos="355600" algn="l"/>
              </a:tabLst>
            </a:pPr>
            <a:r>
              <a:rPr sz="1400" b="1" dirty="0">
                <a:latin typeface="Arial"/>
                <a:cs typeface="Arial"/>
              </a:rPr>
              <a:t>3.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Data</a:t>
            </a:r>
            <a:r>
              <a:rPr sz="1400" b="1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Visualization:</a:t>
            </a:r>
            <a:endParaRPr sz="14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33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Matplotlib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Plotting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graphs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charts</a:t>
            </a:r>
            <a:endParaRPr sz="14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1350"/>
              </a:spcBef>
              <a:buSzPct val="128571"/>
              <a:buFont typeface="Arial MT"/>
              <a:buChar char="•"/>
              <a:tabLst>
                <a:tab pos="812800" algn="l"/>
              </a:tabLst>
            </a:pPr>
            <a:r>
              <a:rPr sz="1400" b="1" dirty="0">
                <a:latin typeface="Arial"/>
                <a:cs typeface="Arial"/>
              </a:rPr>
              <a:t>Seaborn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Enhanced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statistical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visualizations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7205"/>
            <a:ext cx="83521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spc="-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Collection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(Web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Scraping)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471500"/>
            <a:ext cx="8717280" cy="4506595"/>
          </a:xfrm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3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Arial"/>
                <a:cs typeface="Arial"/>
              </a:rPr>
              <a:t>Source: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Flipkart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listings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including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price,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brand,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capacity,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rating,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inverter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type.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dirty="0">
                <a:latin typeface="Arial"/>
                <a:cs typeface="Arial"/>
              </a:rPr>
              <a:t>Tools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&amp;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Libraries: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latin typeface="Arial"/>
                <a:cs typeface="Arial"/>
              </a:rPr>
              <a:t>Python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spc="-10" dirty="0">
                <a:latin typeface="Arial"/>
                <a:cs typeface="Arial"/>
              </a:rPr>
              <a:t>BeautifulSoup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 for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parsing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 </a:t>
            </a:r>
            <a:r>
              <a:rPr sz="1400" spc="-10" dirty="0">
                <a:latin typeface="Arial MT"/>
                <a:cs typeface="Arial MT"/>
              </a:rPr>
              <a:t>pages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latin typeface="Arial"/>
                <a:cs typeface="Arial"/>
              </a:rPr>
              <a:t>Requests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sending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requests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756285" algn="l"/>
              </a:tabLst>
            </a:pPr>
            <a:r>
              <a:rPr sz="1400" b="1" dirty="0">
                <a:latin typeface="Arial"/>
                <a:cs typeface="Arial"/>
              </a:rPr>
              <a:t>Pandas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–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storing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managing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dataset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Process: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4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Send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HTTP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requests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Flipkart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AC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pages.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Parse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HTML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product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details.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Store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extracted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structured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CSV/Excel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dataset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spc="-10" dirty="0">
                <a:latin typeface="Arial"/>
                <a:cs typeface="Arial"/>
              </a:rPr>
              <a:t>Challenges:</a:t>
            </a:r>
            <a:endParaRPr sz="14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Dynamic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website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content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pagination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Handling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missing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inconsistent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data</a:t>
            </a:r>
            <a:endParaRPr sz="14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840"/>
              </a:spcBef>
              <a:buChar char="•"/>
              <a:tabLst>
                <a:tab pos="756285" algn="l"/>
              </a:tabLst>
            </a:pPr>
            <a:r>
              <a:rPr sz="1400" dirty="0">
                <a:latin typeface="Arial MT"/>
                <a:cs typeface="Arial MT"/>
              </a:rPr>
              <a:t>Avoiding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IP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blocks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during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scraping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9447" y="1086610"/>
            <a:ext cx="4240798" cy="55395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32220" y="416051"/>
            <a:ext cx="4030979" cy="368807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401" y="378917"/>
            <a:ext cx="38411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5" dirty="0">
                <a:latin typeface="Arial"/>
                <a:cs typeface="Arial"/>
              </a:rPr>
              <a:t>Web-</a:t>
            </a:r>
            <a:r>
              <a:rPr sz="2800" dirty="0">
                <a:latin typeface="Arial"/>
                <a:cs typeface="Arial"/>
              </a:rPr>
              <a:t>Scrapping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Code</a:t>
            </a:r>
            <a:r>
              <a:rPr sz="2800" spc="-9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32079" rIns="0" bIns="0" rtlCol="0">
            <a:spAutoFit/>
          </a:bodyPr>
          <a:lstStyle/>
          <a:p>
            <a:pPr marL="367665">
              <a:lnSpc>
                <a:spcPct val="100000"/>
              </a:lnSpc>
              <a:spcBef>
                <a:spcPts val="105"/>
              </a:spcBef>
            </a:pPr>
            <a:r>
              <a:rPr sz="2900" dirty="0">
                <a:latin typeface="Arial"/>
                <a:cs typeface="Arial"/>
              </a:rPr>
              <a:t>Dataset</a:t>
            </a:r>
            <a:r>
              <a:rPr sz="2900" spc="-40" dirty="0">
                <a:latin typeface="Arial"/>
                <a:cs typeface="Arial"/>
              </a:rPr>
              <a:t> </a:t>
            </a:r>
            <a:r>
              <a:rPr sz="2900" spc="-10" dirty="0">
                <a:latin typeface="Arial"/>
                <a:cs typeface="Arial"/>
              </a:rPr>
              <a:t>Overview</a:t>
            </a:r>
            <a:endParaRPr sz="29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46747" y="987552"/>
            <a:ext cx="4608576" cy="484357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15416" y="1935861"/>
            <a:ext cx="4496435" cy="3415029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Number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of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Records: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~[1824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*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10]</a:t>
            </a:r>
            <a:endParaRPr sz="1800">
              <a:latin typeface="Arial MT"/>
              <a:cs typeface="Arial MT"/>
            </a:endParaRPr>
          </a:p>
          <a:p>
            <a:pPr marL="299085" indent="-28638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b="1" dirty="0">
                <a:latin typeface="Arial"/>
                <a:cs typeface="Arial"/>
              </a:rPr>
              <a:t>Key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Features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/</a:t>
            </a:r>
            <a:r>
              <a:rPr sz="1800" b="1" spc="-10" dirty="0">
                <a:latin typeface="Arial"/>
                <a:cs typeface="Arial"/>
              </a:rPr>
              <a:t> Columns:</a:t>
            </a:r>
            <a:endParaRPr sz="1800"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Brand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Manufacturer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AC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Model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AC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model</a:t>
            </a:r>
            <a:r>
              <a:rPr sz="1600" spc="-10" dirty="0">
                <a:latin typeface="Arial MT"/>
                <a:cs typeface="Arial MT"/>
              </a:rPr>
              <a:t> name/number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5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Capacity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Cooling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capacity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tons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Star</a:t>
            </a:r>
            <a:r>
              <a:rPr sz="1600" b="1" spc="-4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Rating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Energy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efficiency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(1</a:t>
            </a:r>
            <a:r>
              <a:rPr sz="1600" spc="-10" dirty="0">
                <a:latin typeface="Segoe UI Symbol"/>
                <a:cs typeface="Segoe UI Symbol"/>
              </a:rPr>
              <a:t>★</a:t>
            </a:r>
            <a:r>
              <a:rPr sz="1600" spc="-10" dirty="0">
                <a:latin typeface="Arial MT"/>
                <a:cs typeface="Arial MT"/>
              </a:rPr>
              <a:t>–5</a:t>
            </a:r>
            <a:r>
              <a:rPr sz="1600" spc="-10" dirty="0">
                <a:latin typeface="Segoe UI Symbol"/>
                <a:cs typeface="Segoe UI Symbol"/>
              </a:rPr>
              <a:t>★</a:t>
            </a:r>
            <a:r>
              <a:rPr sz="1600" spc="-10" dirty="0">
                <a:latin typeface="Arial MT"/>
                <a:cs typeface="Arial MT"/>
              </a:rPr>
              <a:t>)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Inverter</a:t>
            </a:r>
            <a:r>
              <a:rPr sz="1600" b="1" spc="-1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Yes/No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Units</a:t>
            </a:r>
            <a:r>
              <a:rPr sz="1600" b="1" spc="-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Power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Usage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per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annually</a:t>
            </a:r>
            <a:endParaRPr sz="16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756285" algn="l"/>
              </a:tabLst>
            </a:pPr>
            <a:r>
              <a:rPr sz="1600" b="1" dirty="0">
                <a:latin typeface="Arial"/>
                <a:cs typeface="Arial"/>
              </a:rPr>
              <a:t>Price</a:t>
            </a:r>
            <a:r>
              <a:rPr sz="1600" b="1" spc="-1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–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Listed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price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INR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4631" y="1559269"/>
            <a:ext cx="8312123" cy="50466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69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Arial"/>
                <a:cs typeface="Arial"/>
              </a:rPr>
              <a:t>Sample</a:t>
            </a:r>
            <a:r>
              <a:rPr sz="4000" spc="-175" dirty="0">
                <a:latin typeface="Arial"/>
                <a:cs typeface="Arial"/>
              </a:rPr>
              <a:t> </a:t>
            </a:r>
            <a:r>
              <a:rPr sz="4000" spc="-10" dirty="0">
                <a:latin typeface="Arial"/>
                <a:cs typeface="Arial"/>
              </a:rPr>
              <a:t>Dataset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6903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spc="-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Cleaning</a:t>
            </a:r>
            <a:r>
              <a:rPr spc="-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&amp;</a:t>
            </a:r>
            <a:r>
              <a:rPr spc="-2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Preprocessing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40229"/>
            <a:ext cx="7639684" cy="414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Handling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Values: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Replaced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missing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model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features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with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NaN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default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values.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Removed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rows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with </a:t>
            </a:r>
            <a:r>
              <a:rPr sz="1800" b="1" dirty="0">
                <a:latin typeface="Arial"/>
                <a:cs typeface="Arial"/>
              </a:rPr>
              <a:t>critical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missing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price).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2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Data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Type</a:t>
            </a:r>
            <a:r>
              <a:rPr sz="1800" b="1" spc="-10" dirty="0">
                <a:latin typeface="Arial"/>
                <a:cs typeface="Arial"/>
              </a:rPr>
              <a:t> Conversion: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2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Converted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Capacity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columns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numeric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types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analysis.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Converted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Rating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integer.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3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Removing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Duplicates: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3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Checked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removed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duplicate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entries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ensure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quality.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5383" y="771905"/>
            <a:ext cx="8898890" cy="304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00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Feature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Standardization: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4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Standardized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names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(e.g.,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“LG”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“Lg”).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Standardized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room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sizes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inverter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values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consistent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formats.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800">
              <a:latin typeface="Arial MT"/>
              <a:cs typeface="Arial MT"/>
            </a:endParaRPr>
          </a:p>
          <a:p>
            <a:pPr marL="266700" indent="-254000">
              <a:lnSpc>
                <a:spcPct val="100000"/>
              </a:lnSpc>
              <a:buAutoNum type="arabicPeriod" startAt="5"/>
              <a:tabLst>
                <a:tab pos="266700" algn="l"/>
              </a:tabLst>
            </a:pPr>
            <a:r>
              <a:rPr sz="1800" b="1" dirty="0">
                <a:latin typeface="Arial"/>
                <a:cs typeface="Arial"/>
              </a:rPr>
              <a:t>Final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Dataset: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90"/>
              </a:spcBef>
              <a:buFont typeface="Arial"/>
              <a:buAutoNum type="arabicPeriod" startAt="5"/>
            </a:pPr>
            <a:endParaRPr sz="1800">
              <a:latin typeface="Arial"/>
              <a:cs typeface="Arial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Clean,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structured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dataset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analysis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and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visualization</a:t>
            </a:r>
            <a:r>
              <a:rPr sz="1800" spc="-1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90"/>
              </a:spcBef>
              <a:buFont typeface="Arial MT"/>
              <a:buChar char="•"/>
            </a:pPr>
            <a:endParaRPr sz="1800">
              <a:latin typeface="Arial MT"/>
              <a:cs typeface="Arial MT"/>
            </a:endParaRPr>
          </a:p>
          <a:p>
            <a:pPr marL="299085" lvl="1" indent="-286385">
              <a:lnSpc>
                <a:spcPct val="100000"/>
              </a:lnSpc>
              <a:buChar char="•"/>
              <a:tabLst>
                <a:tab pos="299085" algn="l"/>
              </a:tabLst>
            </a:pPr>
            <a:r>
              <a:rPr sz="1800" dirty="0">
                <a:latin typeface="Arial MT"/>
                <a:cs typeface="Arial MT"/>
              </a:rPr>
              <a:t>Columns: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Brand,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Model,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Price,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Capacity,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Star_Rating,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Inverter,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Units,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Room_Size,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Exploratory</a:t>
            </a:r>
            <a:r>
              <a:rPr spc="-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spc="-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Analysis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(EDA)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1239" y="1503045"/>
            <a:ext cx="8769350" cy="14960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105"/>
              </a:spcBef>
              <a:buSzPct val="90000"/>
              <a:buAutoNum type="arabicPeriod"/>
              <a:tabLst>
                <a:tab pos="527685" algn="l"/>
              </a:tabLst>
            </a:pPr>
            <a:r>
              <a:rPr sz="2000" b="1" dirty="0">
                <a:latin typeface="Arial"/>
                <a:cs typeface="Arial"/>
              </a:rPr>
              <a:t>Statistical</a:t>
            </a:r>
            <a:r>
              <a:rPr sz="2000" b="1" spc="-70" dirty="0">
                <a:latin typeface="Arial"/>
                <a:cs typeface="Arial"/>
              </a:rPr>
              <a:t> </a:t>
            </a:r>
            <a:r>
              <a:rPr sz="2000" b="1" spc="-10" dirty="0">
                <a:latin typeface="Arial"/>
                <a:cs typeface="Arial"/>
              </a:rPr>
              <a:t>Summary:</a:t>
            </a:r>
            <a:endParaRPr sz="20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180"/>
              </a:spcBef>
              <a:buSzPct val="9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Calculated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mean,</a:t>
            </a:r>
            <a:r>
              <a:rPr sz="2000" b="1" spc="-4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median,</a:t>
            </a:r>
            <a:r>
              <a:rPr sz="2000" b="1" spc="-4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and</a:t>
            </a:r>
            <a:r>
              <a:rPr sz="2000" b="1" spc="-20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mode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AC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prices.</a:t>
            </a:r>
            <a:endParaRPr sz="2000">
              <a:latin typeface="Arial MT"/>
              <a:cs typeface="Arial MT"/>
            </a:endParaRPr>
          </a:p>
          <a:p>
            <a:pPr marL="812800" lvl="1" indent="-342900">
              <a:lnSpc>
                <a:spcPct val="100000"/>
              </a:lnSpc>
              <a:spcBef>
                <a:spcPts val="2190"/>
              </a:spcBef>
              <a:buSzPct val="90000"/>
              <a:buChar char="•"/>
              <a:tabLst>
                <a:tab pos="812800" algn="l"/>
              </a:tabLst>
            </a:pPr>
            <a:r>
              <a:rPr sz="2000" dirty="0">
                <a:latin typeface="Arial MT"/>
                <a:cs typeface="Arial MT"/>
              </a:rPr>
              <a:t>Provides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overview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central</a:t>
            </a:r>
            <a:r>
              <a:rPr sz="2000" b="1" spc="-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tendency</a:t>
            </a:r>
            <a:r>
              <a:rPr sz="2000" b="1" spc="-2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b="1" dirty="0">
                <a:latin typeface="Arial"/>
                <a:cs typeface="Arial"/>
              </a:rPr>
              <a:t>spread</a:t>
            </a:r>
            <a:r>
              <a:rPr sz="2000" b="1" spc="-15" dirty="0">
                <a:latin typeface="Arial"/>
                <a:cs typeface="Arial"/>
              </a:rPr>
              <a:t> </a:t>
            </a:r>
            <a:r>
              <a:rPr sz="2000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the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data.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2545" y="3341981"/>
            <a:ext cx="3486094" cy="297072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139" y="3400404"/>
            <a:ext cx="4572059" cy="23780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239" y="697698"/>
            <a:ext cx="4573905" cy="9594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390"/>
              </a:spcBef>
              <a:buAutoNum type="arabicPeriod" startAt="2"/>
              <a:tabLst>
                <a:tab pos="456565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Identifying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ranges.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0821" y="1956942"/>
            <a:ext cx="7188060" cy="45740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1239" y="697698"/>
            <a:ext cx="4674870" cy="959485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456565" indent="-443865">
              <a:lnSpc>
                <a:spcPct val="100000"/>
              </a:lnSpc>
              <a:spcBef>
                <a:spcPts val="390"/>
              </a:spcBef>
              <a:buAutoNum type="arabicPeriod" startAt="3"/>
              <a:tabLst>
                <a:tab pos="456565" algn="l"/>
              </a:tabLst>
            </a:pP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across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Area: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AC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Line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plot.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85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Identifying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various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Room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Sizes.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437" y="1864732"/>
            <a:ext cx="7174995" cy="48862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7125334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30200" indent="-317500">
              <a:lnSpc>
                <a:spcPct val="100000"/>
              </a:lnSpc>
              <a:spcBef>
                <a:spcPts val="385"/>
              </a:spcBef>
              <a:buAutoNum type="arabicPeriod" startAt="4"/>
              <a:tabLst>
                <a:tab pos="330200" algn="l"/>
              </a:tabLst>
            </a:pPr>
            <a:r>
              <a:rPr sz="1800" b="1" spc="-10" dirty="0">
                <a:latin typeface="Arial"/>
                <a:cs typeface="Arial"/>
              </a:rPr>
              <a:t>Brand-</a:t>
            </a:r>
            <a:r>
              <a:rPr sz="1800" b="1" dirty="0">
                <a:latin typeface="Arial"/>
                <a:cs typeface="Arial"/>
              </a:rPr>
              <a:t>wise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Comparison: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 AC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prices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7253" y="1910315"/>
            <a:ext cx="7286275" cy="424681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7455534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5"/>
              <a:tabLst>
                <a:tab pos="393065" algn="l"/>
              </a:tabLst>
            </a:pPr>
            <a:r>
              <a:rPr sz="1800" b="1" spc="-10" dirty="0">
                <a:latin typeface="Arial"/>
                <a:cs typeface="Arial"/>
              </a:rPr>
              <a:t>Brand-</a:t>
            </a:r>
            <a:r>
              <a:rPr sz="1800" b="1" dirty="0">
                <a:latin typeface="Arial"/>
                <a:cs typeface="Arial"/>
              </a:rPr>
              <a:t>wise</a:t>
            </a:r>
            <a:r>
              <a:rPr sz="1800" b="1" spc="-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Distribution: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usage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229" y="1748027"/>
            <a:ext cx="6770297" cy="467790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843661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6"/>
              <a:tabLst>
                <a:tab pos="393065" algn="l"/>
              </a:tabLst>
            </a:pPr>
            <a:r>
              <a:rPr sz="1800" b="1" dirty="0">
                <a:latin typeface="Arial"/>
                <a:cs typeface="Arial"/>
              </a:rPr>
              <a:t>Power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 power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Distribution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Star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rating.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879" y="1808948"/>
            <a:ext cx="6843943" cy="45385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8829675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065" indent="-380365">
              <a:lnSpc>
                <a:spcPct val="100000"/>
              </a:lnSpc>
              <a:spcBef>
                <a:spcPts val="385"/>
              </a:spcBef>
              <a:buAutoNum type="arabicPeriod" startAt="7"/>
              <a:tabLst>
                <a:tab pos="393065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Area</a:t>
            </a:r>
            <a:r>
              <a:rPr sz="1800" b="1" spc="25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Comaprison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areas.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310" y="1812095"/>
            <a:ext cx="7368367" cy="474103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9714"/>
            <a:ext cx="901827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93700" indent="-381000">
              <a:lnSpc>
                <a:spcPct val="100000"/>
              </a:lnSpc>
              <a:spcBef>
                <a:spcPts val="385"/>
              </a:spcBef>
              <a:buAutoNum type="arabicPeriod" startAt="8"/>
              <a:tabLst>
                <a:tab pos="393700" algn="l"/>
              </a:tabLst>
            </a:pP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comparison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based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Brands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Char char="•"/>
              <a:tabLst>
                <a:tab pos="812800" algn="l"/>
              </a:tabLst>
            </a:pPr>
            <a:r>
              <a:rPr sz="1800" dirty="0">
                <a:latin typeface="Arial MT"/>
                <a:cs typeface="Arial MT"/>
              </a:rPr>
              <a:t>Visualized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Average</a:t>
            </a:r>
            <a:r>
              <a:rPr sz="1800" b="1" spc="1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Price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Comaprison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bar</a:t>
            </a:r>
            <a:r>
              <a:rPr sz="1800" b="1" spc="-3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plot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across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Different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Brands.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377" y="1800949"/>
            <a:ext cx="7357967" cy="428668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8189"/>
            <a:ext cx="829564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85"/>
              </a:spcBef>
              <a:buAutoNum type="arabicPeriod" startAt="9"/>
              <a:tabLst>
                <a:tab pos="355600" algn="l"/>
              </a:tabLst>
            </a:pP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comparison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Model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Visualized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Average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Comaprison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bar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plot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Different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Models.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096" y="1828554"/>
            <a:ext cx="8746899" cy="423568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7919" y="758189"/>
            <a:ext cx="6889750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85"/>
              </a:spcBef>
              <a:buAutoNum type="arabicPeriod" startAt="10"/>
              <a:tabLst>
                <a:tab pos="469900" algn="l"/>
              </a:tabLst>
            </a:pP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comparison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based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AI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50" dirty="0">
                <a:latin typeface="Times New Roman"/>
                <a:cs typeface="Times New Roman"/>
              </a:rPr>
              <a:t>:</a:t>
            </a:r>
            <a:endParaRPr sz="1800">
              <a:latin typeface="Times New Roman"/>
              <a:cs typeface="Times New Roman"/>
            </a:endParaRPr>
          </a:p>
          <a:p>
            <a:pPr marL="812800" lvl="1" indent="-3429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812800" algn="l"/>
              </a:tabLst>
            </a:pPr>
            <a:r>
              <a:rPr sz="1800" dirty="0">
                <a:latin typeface="Times New Roman"/>
                <a:cs typeface="Times New Roman"/>
              </a:rPr>
              <a:t>Visualized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Average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Price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Comaprison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bar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plot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across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AI.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3997" y="1804738"/>
            <a:ext cx="8765883" cy="426952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17323" cy="672541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FF45C83-E6FA-A6E6-A750-31E4D4F1933F}"/>
              </a:ext>
            </a:extLst>
          </p:cNvPr>
          <p:cNvSpPr txBox="1"/>
          <p:nvPr/>
        </p:nvSpPr>
        <p:spPr>
          <a:xfrm>
            <a:off x="919480" y="92666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General Data Patterns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BEDCFF4-81C8-EFE4-11DF-148343F95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2015396"/>
              </p:ext>
            </p:extLst>
          </p:nvPr>
        </p:nvGraphicFramePr>
        <p:xfrm>
          <a:off x="919480" y="1981200"/>
          <a:ext cx="9704388" cy="2710656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852194">
                  <a:extLst>
                    <a:ext uri="{9D8B030D-6E8A-4147-A177-3AD203B41FA5}">
                      <a16:colId xmlns:a16="http://schemas.microsoft.com/office/drawing/2014/main" val="1859147050"/>
                    </a:ext>
                  </a:extLst>
                </a:gridCol>
                <a:gridCol w="4852194">
                  <a:extLst>
                    <a:ext uri="{9D8B030D-6E8A-4147-A177-3AD203B41FA5}">
                      <a16:colId xmlns:a16="http://schemas.microsoft.com/office/drawing/2014/main" val="2563887683"/>
                    </a:ext>
                  </a:extLst>
                </a:gridCol>
              </a:tblGrid>
              <a:tr h="516096">
                <a:tc>
                  <a:txBody>
                    <a:bodyPr/>
                    <a:lstStyle/>
                    <a:p>
                      <a:r>
                        <a:rPr lang="en-IN" b="1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Observation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068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Average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₹27,000 – ₹32,000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7426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Price 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₹15,000 – ₹60,000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46860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Most Common Capacity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1.0 Ton</a:t>
                      </a:r>
                      <a:r>
                        <a:rPr lang="en-US" dirty="0"/>
                        <a:t> (around 50% of all ACs)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0751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Most Common Star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3-Star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8497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Inverter AC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~70% of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0329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AI Feature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~30% of products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44191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2294B42-B5D4-EFA6-2DA0-E8750B358D2C}"/>
              </a:ext>
            </a:extLst>
          </p:cNvPr>
          <p:cNvSpPr txBox="1"/>
          <p:nvPr/>
        </p:nvSpPr>
        <p:spPr>
          <a:xfrm>
            <a:off x="894080" y="4976951"/>
            <a:ext cx="9704388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Interpretation:</a:t>
            </a:r>
            <a:br>
              <a:rPr lang="en-US" dirty="0"/>
            </a:br>
            <a:r>
              <a:rPr lang="en-US" dirty="0">
                <a:latin typeface="+mn-lt"/>
              </a:rPr>
              <a:t>Mid-range 1.0-ton, 3-star inverter ACs dominate the market, reflecting consumer preference for energy efficiency and moderate cooling capacity.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79067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54EFA-D52D-7BBE-9D80-AC9DAE6E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677108"/>
          </a:xfrm>
        </p:spPr>
        <p:txBody>
          <a:bodyPr/>
          <a:lstStyle/>
          <a:p>
            <a:r>
              <a:rPr lang="en-IN" dirty="0"/>
              <a:t>Brand Analysis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6A5CCDD-86CC-1A86-7A8D-2DF9628079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732965"/>
              </p:ext>
            </p:extLst>
          </p:nvPr>
        </p:nvGraphicFramePr>
        <p:xfrm>
          <a:off x="563676" y="1524000"/>
          <a:ext cx="9704388" cy="219456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234796">
                  <a:extLst>
                    <a:ext uri="{9D8B030D-6E8A-4147-A177-3AD203B41FA5}">
                      <a16:colId xmlns:a16="http://schemas.microsoft.com/office/drawing/2014/main" val="1319862739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3008271033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10954314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Brand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Median Price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334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LG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Premium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1853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Samsung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85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Voltas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Mid-range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8100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MarQ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6389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Midea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~26,000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Budget-Mid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71080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A647D6C-9383-0DC7-91B6-C0A7E384FC14}"/>
              </a:ext>
            </a:extLst>
          </p:cNvPr>
          <p:cNvSpPr txBox="1"/>
          <p:nvPr/>
        </p:nvSpPr>
        <p:spPr>
          <a:xfrm>
            <a:off x="563676" y="4116309"/>
            <a:ext cx="9704388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Insights:</a:t>
            </a:r>
            <a:endParaRPr lang="en-IN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Voltas</a:t>
            </a:r>
            <a:r>
              <a:rPr lang="en-IN" dirty="0"/>
              <a:t> and </a:t>
            </a:r>
            <a:r>
              <a:rPr lang="en-IN" b="1" dirty="0" err="1"/>
              <a:t>MarQ</a:t>
            </a:r>
            <a:r>
              <a:rPr lang="en-IN" dirty="0"/>
              <a:t> dominate the budget segment (&lt;₹25k).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LG</a:t>
            </a:r>
            <a:r>
              <a:rPr lang="en-IN" dirty="0"/>
              <a:t> and </a:t>
            </a:r>
            <a:r>
              <a:rPr lang="en-IN" b="1" dirty="0"/>
              <a:t>Samsung</a:t>
            </a:r>
            <a:r>
              <a:rPr lang="en-IN" dirty="0"/>
              <a:t> target the premium inverter AC market (&gt;₹32k).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Midea</a:t>
            </a:r>
            <a:r>
              <a:rPr lang="en-IN" dirty="0"/>
              <a:t> offers competitive pricing with AI and inverter features at mid-level prices.</a:t>
            </a:r>
          </a:p>
        </p:txBody>
      </p:sp>
    </p:spTree>
    <p:extLst>
      <p:ext uri="{BB962C8B-B14F-4D97-AF65-F5344CB8AC3E}">
        <p14:creationId xmlns:p14="http://schemas.microsoft.com/office/powerpoint/2010/main" val="1561315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4458-BB99-0311-3C32-46E8F84E0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676" y="377444"/>
            <a:ext cx="9017203" cy="677108"/>
          </a:xfrm>
        </p:spPr>
        <p:txBody>
          <a:bodyPr/>
          <a:lstStyle/>
          <a:p>
            <a:r>
              <a:rPr lang="en-IN" dirty="0"/>
              <a:t>Capacity vs. Price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3E8200-C56E-B1D9-7F0E-E8F02E6EF9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72753"/>
              </p:ext>
            </p:extLst>
          </p:nvPr>
        </p:nvGraphicFramePr>
        <p:xfrm>
          <a:off x="563676" y="1603094"/>
          <a:ext cx="9704388" cy="1828800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3234796">
                  <a:extLst>
                    <a:ext uri="{9D8B030D-6E8A-4147-A177-3AD203B41FA5}">
                      <a16:colId xmlns:a16="http://schemas.microsoft.com/office/drawing/2014/main" val="3204316869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425182830"/>
                    </a:ext>
                  </a:extLst>
                </a:gridCol>
                <a:gridCol w="3234796">
                  <a:extLst>
                    <a:ext uri="{9D8B030D-6E8A-4147-A177-3AD203B41FA5}">
                      <a16:colId xmlns:a16="http://schemas.microsoft.com/office/drawing/2014/main" val="1797181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/>
                        <a:t>Capacity (Ton)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Avg Price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Trend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252004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0.75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~19,000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Budget compact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1561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~27,000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Standard 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388603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Premium segment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519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~38,000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High-end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18126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970BBE8-C2DC-44E0-CAE2-067C67430301}"/>
              </a:ext>
            </a:extLst>
          </p:cNvPr>
          <p:cNvSpPr txBox="1"/>
          <p:nvPr/>
        </p:nvSpPr>
        <p:spPr>
          <a:xfrm>
            <a:off x="569462" y="4191000"/>
            <a:ext cx="10250937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Observation:</a:t>
            </a:r>
            <a:br>
              <a:rPr lang="en-US" dirty="0"/>
            </a:br>
            <a:r>
              <a:rPr lang="en-US" dirty="0"/>
              <a:t>Price </a:t>
            </a:r>
            <a:r>
              <a:rPr lang="en-US" b="1" dirty="0"/>
              <a:t>increases proportionally with capacity</a:t>
            </a:r>
            <a:r>
              <a:rPr lang="en-US" dirty="0"/>
              <a:t>, showing a clear linear trend (correlation ≈ +0.7).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274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0139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5"/>
              </a:spcBef>
            </a:pPr>
            <a:r>
              <a:rPr dirty="0"/>
              <a:t>Key </a:t>
            </a:r>
            <a:r>
              <a:rPr spc="-10" dirty="0"/>
              <a:t>Questions: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/>
              <a:t>Which</a:t>
            </a:r>
            <a:r>
              <a:rPr spc="-15" dirty="0"/>
              <a:t> </a:t>
            </a:r>
            <a:r>
              <a:rPr dirty="0"/>
              <a:t>brands</a:t>
            </a:r>
            <a:r>
              <a:rPr spc="-15" dirty="0"/>
              <a:t> </a:t>
            </a:r>
            <a:r>
              <a:rPr dirty="0"/>
              <a:t>offer</a:t>
            </a:r>
            <a:r>
              <a:rPr spc="-1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b="1" dirty="0">
                <a:latin typeface="Times New Roman"/>
                <a:cs typeface="Times New Roman"/>
              </a:rPr>
              <a:t>best</a:t>
            </a:r>
            <a:r>
              <a:rPr b="1" spc="-1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value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for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spc="-10" dirty="0">
                <a:latin typeface="Times New Roman"/>
                <a:cs typeface="Times New Roman"/>
              </a:rPr>
              <a:t>money</a:t>
            </a:r>
            <a:r>
              <a:rPr spc="-10" dirty="0"/>
              <a:t>?</a:t>
            </a:r>
          </a:p>
          <a:p>
            <a:pPr marL="299085" marR="5080" indent="-287020">
              <a:lnSpc>
                <a:spcPct val="2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How do</a:t>
            </a:r>
            <a:r>
              <a:rPr spc="-20" dirty="0"/>
              <a:t> </a:t>
            </a:r>
            <a:r>
              <a:rPr dirty="0"/>
              <a:t>features</a:t>
            </a:r>
            <a:r>
              <a:rPr spc="-40" dirty="0"/>
              <a:t> </a:t>
            </a:r>
            <a:r>
              <a:rPr dirty="0"/>
              <a:t>like</a:t>
            </a:r>
            <a:r>
              <a:rPr spc="-60" dirty="0"/>
              <a:t> </a:t>
            </a:r>
            <a:r>
              <a:rPr b="1" dirty="0">
                <a:latin typeface="Times New Roman"/>
                <a:cs typeface="Times New Roman"/>
              </a:rPr>
              <a:t>capacity,</a:t>
            </a:r>
            <a:r>
              <a:rPr b="1" spc="-4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star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rating,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inverter</a:t>
            </a:r>
            <a:r>
              <a:rPr b="1" spc="-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technology</a:t>
            </a:r>
            <a:r>
              <a:rPr b="1" spc="-10" dirty="0">
                <a:latin typeface="Times New Roman"/>
                <a:cs typeface="Times New Roman"/>
              </a:rPr>
              <a:t> </a:t>
            </a:r>
            <a:r>
              <a:rPr spc="-10" dirty="0"/>
              <a:t>impact price?</a:t>
            </a:r>
          </a:p>
          <a:p>
            <a:pPr>
              <a:lnSpc>
                <a:spcPct val="100000"/>
              </a:lnSpc>
              <a:spcBef>
                <a:spcPts val="125"/>
              </a:spcBef>
              <a:buFont typeface="Arial MT"/>
              <a:buChar char="•"/>
            </a:pPr>
            <a:endParaRPr spc="-10" dirty="0"/>
          </a:p>
          <a:p>
            <a:pPr marL="299085" indent="-286385">
              <a:lnSpc>
                <a:spcPct val="100000"/>
              </a:lnSpc>
              <a:buFont typeface="Arial MT"/>
              <a:buChar char="•"/>
              <a:tabLst>
                <a:tab pos="299085" algn="l"/>
              </a:tabLst>
            </a:pPr>
            <a:r>
              <a:rPr dirty="0"/>
              <a:t>What</a:t>
            </a:r>
            <a:r>
              <a:rPr spc="-1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b="1" dirty="0">
                <a:latin typeface="Times New Roman"/>
                <a:cs typeface="Times New Roman"/>
              </a:rPr>
              <a:t>seasonal</a:t>
            </a:r>
            <a:r>
              <a:rPr b="1" spc="-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trends</a:t>
            </a:r>
            <a:r>
              <a:rPr b="1" spc="-20" dirty="0">
                <a:latin typeface="Times New Roman"/>
                <a:cs typeface="Times New Roman"/>
              </a:rPr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dirty="0"/>
              <a:t>AC</a:t>
            </a:r>
            <a:r>
              <a:rPr spc="-20" dirty="0"/>
              <a:t> </a:t>
            </a:r>
            <a:r>
              <a:rPr spc="-10" dirty="0"/>
              <a:t>pricing?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9A5B52-CBE0-1FDE-EFEF-8455E2C6C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7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214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6332" y="1850135"/>
            <a:ext cx="4465320" cy="28346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3594" y="2995930"/>
            <a:ext cx="2364105" cy="136588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>
              <a:lnSpc>
                <a:spcPts val="5270"/>
              </a:lnSpc>
              <a:spcBef>
                <a:spcPts val="210"/>
              </a:spcBef>
            </a:pPr>
            <a:r>
              <a:rPr b="0" spc="320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b="0" spc="40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</TotalTime>
  <Words>1100</Words>
  <Application>Microsoft Office PowerPoint</Application>
  <PresentationFormat>Widescreen</PresentationFormat>
  <Paragraphs>193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Arial</vt:lpstr>
      <vt:lpstr>Arial MT</vt:lpstr>
      <vt:lpstr>Calibri</vt:lpstr>
      <vt:lpstr>Palatino Linotype</vt:lpstr>
      <vt:lpstr>Segoe UI Symbol</vt:lpstr>
      <vt:lpstr>Tahoma</vt:lpstr>
      <vt:lpstr>Times New Roman</vt:lpstr>
      <vt:lpstr>Office Theme</vt:lpstr>
      <vt:lpstr>1_Office Theme</vt:lpstr>
      <vt:lpstr>AC Price Analysis using Flipkart Data</vt:lpstr>
      <vt:lpstr>About us</vt:lpstr>
      <vt:lpstr>Introduction</vt:lpstr>
      <vt:lpstr>Business Problem</vt:lpstr>
      <vt:lpstr>Objective</vt:lpstr>
      <vt:lpstr>Tools Used</vt:lpstr>
      <vt:lpstr>Data Collection (Web Scraping)</vt:lpstr>
      <vt:lpstr>Web-Scrapping Code :</vt:lpstr>
      <vt:lpstr>Dataset Overview</vt:lpstr>
      <vt:lpstr>Sample Dataset</vt:lpstr>
      <vt:lpstr>Data Cleaning &amp; Preprocessing</vt:lpstr>
      <vt:lpstr>PowerPoint Presentation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Brand Analysis</vt:lpstr>
      <vt:lpstr>Capacity vs. Price</vt:lpstr>
      <vt:lpstr>Key Questions: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Surya Namburi</dc:creator>
  <cp:lastModifiedBy>Surya Namburi</cp:lastModifiedBy>
  <cp:revision>2</cp:revision>
  <cp:lastPrinted>2025-11-12T06:38:42Z</cp:lastPrinted>
  <dcterms:created xsi:type="dcterms:W3CDTF">2025-10-23T09:23:56Z</dcterms:created>
  <dcterms:modified xsi:type="dcterms:W3CDTF">2025-11-12T07:41:56Z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2025-10-23T00:00:00Z</vt:filetime>
  </property>
  <property fmtid="{D5CDD505-2E9C-101B-9397-08002B2CF9AE}" pid="5" name="Producer">
    <vt:lpwstr>Microsoft® PowerPoint® 2021</vt:lpwstr>
  </property>
</Properties>
</file>